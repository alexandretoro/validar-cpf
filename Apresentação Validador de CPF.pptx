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3" d="100"/>
          <a:sy n="103" d="100"/>
        </p:scale>
        <p:origin x="456" y="-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4801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217920" y="640080"/>
            <a:ext cx="2377440" cy="2377440"/>
          </a:xfrm>
          <a:prstGeom prst="ellipse">
            <a:avLst/>
          </a:prstGeom>
          <a:solidFill>
            <a:srgbClr val="16213E"/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217920" y="8229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🔐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CPF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explicado passo a passo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5029200" cy="36576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Programação com Java  •  JDK 25  •  SENAI-SP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JDK 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CPF?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</a:t>
            </a: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Cadastro de Pessoa Física — é o documento de identificação tributária de todo cidadão brasileiro, emitido pela Receita Federal. É composto por </a:t>
            </a:r>
            <a:r>
              <a:rPr lang="en-US" sz="15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dígitos numéricos</a:t>
            </a: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sendo os dois últimos chamados de </a:t>
            </a:r>
            <a:r>
              <a:rPr lang="en-US" sz="15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dígitos verificadores</a:t>
            </a: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calculados a partir dos 9 primeiros.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560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CPF: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40280" y="292608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C757D"/>
                </a:solidFill>
              </a:rPr>
              <a:t>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251960" y="292608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C757D"/>
                </a:solidFill>
              </a:rPr>
              <a:t>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080760" y="292608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C757D"/>
                </a:solidFill>
              </a:rPr>
              <a:t>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144768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757D"/>
                </a:solidFill>
              </a:rPr>
              <a:t>-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280160" cy="548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2926080"/>
            <a:ext cx="1280160" cy="548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2468880" y="2926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4 5 6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6888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2926080"/>
            <a:ext cx="1280160" cy="548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480560" y="2926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7 8 9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056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2926080"/>
            <a:ext cx="1280160" cy="5486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0" y="2926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dígito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0" y="2926080"/>
            <a:ext cx="1280160" cy="5486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772400" y="2926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77240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dígito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114800"/>
            <a:ext cx="841248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FEA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02920" y="41330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 programa valida o CPF informado apenas como sequência de 11 números, sem pontos ou traços.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Algoritmo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48640" cy="5486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51560" y="1051560"/>
            <a:ext cx="7680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051560" y="1051560"/>
            <a:ext cx="64008" cy="7498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234440" y="10881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o tamanho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Checar se o CPF possui exatamente 11 dígitos. Se não, já é inválido.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548640" cy="54864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657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51560" y="2011680"/>
            <a:ext cx="7680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051560" y="2011680"/>
            <a:ext cx="64008" cy="7498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234440" y="20482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1º dígito verificador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Multiplicar os 9 primeiros dígitos por pesos de 10 a 2, somar e calcular o resto.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548640" cy="54864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6576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51560" y="2971800"/>
            <a:ext cx="7680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051560" y="2971800"/>
            <a:ext cx="64008" cy="749808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234440" y="3008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2º dígito verificador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Multiplicar os 10 primeiros dígitos por pesos de 11 a 2, somar e calcular o resto.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023360"/>
            <a:ext cx="548640" cy="5486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6576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51560" y="3931920"/>
            <a:ext cx="7680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1051560" y="3931920"/>
            <a:ext cx="64008" cy="7498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234440" y="39684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e exibir resultado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251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os dois dígitos calculados coincidirem com os do CPF digitado → válido!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— Verificar o tamanho do CPF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passo é verificar se a string digitada possui exatamente 11 caracteres. Qualquer CPF com número diferente de dígitos é imediatamente rejeitado.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8412480" cy="14173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8046720" cy="1325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 err="1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total_digitos</a:t>
            </a: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 err="1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cpf.length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300" dirty="0" err="1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total_digitos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!= 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 err="1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</a:t>
            </a:r>
            <a:r>
              <a:rPr lang="pt-BR" sz="1400" dirty="0">
                <a:solidFill>
                  <a:srgbClr val="6AAB73"/>
                </a:solidFill>
                <a:effectLst/>
                <a:latin typeface="JetBrains Mono"/>
              </a:rPr>
              <a:t> O CPF digitado é inválido. Ele não possui os 11 dígitos necessários para verificação.</a:t>
            </a:r>
            <a:r>
              <a:rPr lang="pt-BR" sz="1400" dirty="0">
                <a:solidFill>
                  <a:srgbClr val="CF8E6D"/>
                </a:solidFill>
                <a:effectLst/>
                <a:latin typeface="JetBrains Mono"/>
              </a:rPr>
              <a:t>\</a:t>
            </a:r>
            <a:r>
              <a:rPr lang="pt-BR" sz="1400" dirty="0" err="1">
                <a:solidFill>
                  <a:srgbClr val="CF8E6D"/>
                </a:solidFill>
                <a:effectLst/>
                <a:latin typeface="JetBrains Mono"/>
              </a:rPr>
              <a:t>n</a:t>
            </a:r>
            <a:r>
              <a:rPr lang="pt-BR" sz="1400" dirty="0" err="1">
                <a:solidFill>
                  <a:srgbClr val="6AAB73"/>
                </a:solidFill>
                <a:effectLst/>
                <a:latin typeface="JetBrains Mono"/>
              </a:rPr>
              <a:t>Execute</a:t>
            </a:r>
            <a:r>
              <a:rPr lang="pt-BR" sz="1400" dirty="0">
                <a:solidFill>
                  <a:srgbClr val="6AAB73"/>
                </a:solidFill>
                <a:effectLst/>
                <a:latin typeface="JetBrains Mono"/>
              </a:rPr>
              <a:t> novamente a aplicação e entre com outro número de CPF</a:t>
            </a: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");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3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... 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246120"/>
            <a:ext cx="4114800" cy="1554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B89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02920" y="3291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CPF válido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675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"12345678900"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00507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dígitos → prossegue para cálculo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3246120"/>
            <a:ext cx="4114800" cy="1554480"/>
          </a:xfrm>
          <a:prstGeom prst="rect">
            <a:avLst/>
          </a:prstGeom>
          <a:solidFill>
            <a:srgbClr val="FEF0F0"/>
          </a:solidFill>
          <a:ln w="1905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892040" y="3291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CPF inválido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3675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"1234567"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400507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dígitos → exibe mensagem de erro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— Primeiro Dígito Verificador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com CPF: 529.982.247-25  →  apenas os 9 primeiros dígitos: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56752" cy="10058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Dígito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Peso ×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75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3460"/>
                          </a:solidFill>
                        </a:rPr>
                        <a:t>50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3460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3460"/>
                          </a:solidFill>
                        </a:rPr>
                        <a:t>72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3460"/>
                          </a:solidFill>
                        </a:rPr>
                        <a:t>63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3460"/>
                          </a:solidFill>
                        </a:rPr>
                        <a:t>48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346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346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3460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3460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365760" y="2487168"/>
            <a:ext cx="8412480" cy="123444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48640" y="2542032"/>
            <a:ext cx="80467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 = 50 + 18 + 72 + 63 + 48 + 10 + 8 + 12 + 14 = 295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Resto = 295 % 11 = 9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Como resto (9) ≥ 2  →  1º dígito verificador = 11 − 9 = 2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3822192"/>
            <a:ext cx="8412480" cy="868680"/>
          </a:xfrm>
          <a:prstGeom prst="rect">
            <a:avLst/>
          </a:prstGeom>
          <a:solidFill>
            <a:srgbClr val="FFF3CD"/>
          </a:solidFill>
          <a:ln w="12700">
            <a:solidFill>
              <a:srgbClr val="FFEA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02920" y="3840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Regra: </a:t>
            </a:r>
            <a:r>
              <a:rPr lang="en-US" sz="13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resto for </a:t>
            </a:r>
            <a:r>
              <a:rPr lang="en-US" sz="13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que 2</a:t>
            </a:r>
            <a:r>
              <a:rPr lang="en-US" sz="13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 dígito verificador é </a:t>
            </a:r>
            <a:r>
              <a:rPr lang="en-US" sz="1300" b="1" dirty="0">
                <a:solidFill>
                  <a:srgbClr val="8564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Senão, é </a:t>
            </a:r>
            <a:r>
              <a:rPr lang="en-US" sz="1300" b="1" dirty="0">
                <a:solidFill>
                  <a:srgbClr val="8564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11 − resto</a:t>
            </a:r>
            <a:r>
              <a:rPr lang="en-US" sz="13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— Segundo Dígito Verificador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usamos os 10 primeiros dígitos (incluindo o 1º dígito verificador), com pesos de 11 a 2: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229600" cy="10058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40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40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40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40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40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Dígito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8A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8A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8A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8A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8A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8A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8A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8A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8A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7A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Peso ×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75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7A65"/>
                          </a:solidFill>
                        </a:rPr>
                        <a:t>55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7A65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7A65"/>
                          </a:solidFill>
                        </a:rPr>
                        <a:t>81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7A65"/>
                          </a:solidFill>
                        </a:rPr>
                        <a:t>72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7A65"/>
                          </a:solidFill>
                        </a:rPr>
                        <a:t>56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7A65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7A65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7A65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7A65"/>
                          </a:solidFill>
                        </a:rPr>
                        <a:t>21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7A65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2487168"/>
            <a:ext cx="8412480" cy="1234440"/>
          </a:xfrm>
          <a:prstGeom prst="rect">
            <a:avLst/>
          </a:prstGeom>
          <a:solidFill>
            <a:srgbClr val="E8F8F5"/>
          </a:solidFill>
          <a:ln w="12700">
            <a:solidFill>
              <a:srgbClr val="A9DF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4"/>
          <p:cNvSpPr/>
          <p:nvPr/>
        </p:nvSpPr>
        <p:spPr>
          <a:xfrm>
            <a:off x="548640" y="2542032"/>
            <a:ext cx="80467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 = 55 + 20 + 81 + 72 + 56 + 12 + 10 + 16 + 21 + 4 = 347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Resto = 347 % 11 = 6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17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Como resto (6) ≥ 2  →  2º dígito verificador = 11 − 6 = 5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3822192"/>
            <a:ext cx="8412480" cy="86868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02920" y="3840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Diferença: </a:t>
            </a:r>
            <a:r>
              <a:rPr lang="en-US" sz="13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segundo cálculo usa </a:t>
            </a: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dígitos</a:t>
            </a:r>
            <a:r>
              <a:rPr lang="en-US" sz="13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 não 9), com pesos de </a:t>
            </a:r>
            <a:r>
              <a:rPr lang="en-US" sz="1300" b="1" dirty="0">
                <a:solidFill>
                  <a:srgbClr val="0F3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a 2</a:t>
            </a:r>
            <a:r>
              <a:rPr lang="en-US" sz="13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 não 10 a 2). A regra do resto é a mesma.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— Comparação e Resultado Final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os dois dígitos verificadores calculados, comparamos com os dígitos nas posições 9 e 10 do CPF digitado: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8412480" cy="1600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6" name="Text 4"/>
          <p:cNvSpPr/>
          <p:nvPr/>
        </p:nvSpPr>
        <p:spPr>
          <a:xfrm>
            <a:off x="548640" y="1490472"/>
            <a:ext cx="8046720" cy="1508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>
              <a:buNone/>
            </a:pPr>
            <a:r>
              <a:rPr lang="pt-BR" sz="1200" dirty="0" err="1">
                <a:solidFill>
                  <a:srgbClr val="CF8E6D"/>
                </a:solidFill>
                <a:effectLst/>
                <a:latin typeface="JetBrains Mono"/>
              </a:rPr>
              <a:t>if</a:t>
            </a:r>
            <a:r>
              <a:rPr lang="pt-BR" sz="12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pt-BR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pt-BR" sz="1200" dirty="0" err="1">
                <a:solidFill>
                  <a:srgbClr val="BCBEC4"/>
                </a:solidFill>
                <a:effectLst/>
                <a:latin typeface="JetBrains Mono"/>
              </a:rPr>
              <a:t>primeiro_digito_verificador</a:t>
            </a:r>
            <a:r>
              <a:rPr lang="pt-BR" sz="1200" dirty="0">
                <a:solidFill>
                  <a:srgbClr val="BCBEC4"/>
                </a:solidFill>
                <a:effectLst/>
                <a:latin typeface="JetBrains Mono"/>
              </a:rPr>
              <a:t> == </a:t>
            </a:r>
            <a:r>
              <a:rPr lang="pt-BR" sz="1200" dirty="0" err="1">
                <a:solidFill>
                  <a:srgbClr val="BCBEC4"/>
                </a:solidFill>
                <a:effectLst/>
                <a:latin typeface="JetBrains Mono"/>
              </a:rPr>
              <a:t>Integer.</a:t>
            </a:r>
            <a:r>
              <a:rPr lang="pt-BR" sz="1200" i="1" dirty="0" err="1">
                <a:solidFill>
                  <a:srgbClr val="BCBEC4"/>
                </a:solidFill>
                <a:effectLst/>
                <a:latin typeface="JetBrains Mono"/>
              </a:rPr>
              <a:t>parseInt</a:t>
            </a:r>
            <a:r>
              <a:rPr lang="pt-BR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pt-BR" sz="1200" dirty="0" err="1">
                <a:solidFill>
                  <a:srgbClr val="BCBEC4"/>
                </a:solidFill>
                <a:effectLst/>
                <a:latin typeface="JetBrains Mono"/>
              </a:rPr>
              <a:t>String.</a:t>
            </a:r>
            <a:r>
              <a:rPr lang="pt-BR" sz="1200" i="1" dirty="0" err="1">
                <a:solidFill>
                  <a:srgbClr val="BCBEC4"/>
                </a:solidFill>
                <a:effectLst/>
                <a:latin typeface="JetBrains Mono"/>
              </a:rPr>
              <a:t>valueOf</a:t>
            </a:r>
            <a:r>
              <a:rPr lang="pt-BR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pt-BR" sz="1200" dirty="0" err="1">
                <a:solidFill>
                  <a:srgbClr val="BCBEC4"/>
                </a:solidFill>
                <a:effectLst/>
                <a:latin typeface="JetBrains Mono"/>
              </a:rPr>
              <a:t>cpf.charAt</a:t>
            </a:r>
            <a:r>
              <a:rPr lang="pt-BR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pt-BR" sz="1200" dirty="0">
                <a:solidFill>
                  <a:srgbClr val="2AACB8"/>
                </a:solidFill>
                <a:effectLst/>
                <a:latin typeface="JetBrains Mono"/>
              </a:rPr>
              <a:t>9</a:t>
            </a:r>
            <a:r>
              <a:rPr lang="pt-BR" sz="1200" dirty="0">
                <a:solidFill>
                  <a:srgbClr val="BCBEC4"/>
                </a:solidFill>
                <a:effectLst/>
                <a:latin typeface="JetBrains Mono"/>
              </a:rPr>
              <a:t>))) &amp;&amp; </a:t>
            </a:r>
            <a:r>
              <a:rPr lang="pt-BR" sz="1200" dirty="0" err="1">
                <a:solidFill>
                  <a:srgbClr val="BCBEC4"/>
                </a:solidFill>
                <a:effectLst/>
                <a:latin typeface="JetBrains Mono"/>
              </a:rPr>
              <a:t>segundo_digito_verificador</a:t>
            </a:r>
            <a:r>
              <a:rPr lang="pt-BR" sz="1200" dirty="0">
                <a:solidFill>
                  <a:srgbClr val="BCBEC4"/>
                </a:solidFill>
                <a:effectLst/>
                <a:latin typeface="JetBrains Mono"/>
              </a:rPr>
              <a:t> == </a:t>
            </a:r>
            <a:r>
              <a:rPr lang="pt-BR" sz="1200" dirty="0" err="1">
                <a:solidFill>
                  <a:srgbClr val="BCBEC4"/>
                </a:solidFill>
                <a:effectLst/>
                <a:latin typeface="JetBrains Mono"/>
              </a:rPr>
              <a:t>Integer.</a:t>
            </a:r>
            <a:r>
              <a:rPr lang="pt-BR" sz="1200" i="1" dirty="0" err="1">
                <a:solidFill>
                  <a:srgbClr val="BCBEC4"/>
                </a:solidFill>
                <a:effectLst/>
                <a:latin typeface="JetBrains Mono"/>
              </a:rPr>
              <a:t>parseInt</a:t>
            </a:r>
            <a:r>
              <a:rPr lang="pt-BR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pt-BR" sz="1200" dirty="0" err="1">
                <a:solidFill>
                  <a:srgbClr val="BCBEC4"/>
                </a:solidFill>
                <a:effectLst/>
                <a:latin typeface="JetBrains Mono"/>
              </a:rPr>
              <a:t>String.</a:t>
            </a:r>
            <a:r>
              <a:rPr lang="pt-BR" sz="1200" i="1" dirty="0" err="1">
                <a:solidFill>
                  <a:srgbClr val="BCBEC4"/>
                </a:solidFill>
                <a:effectLst/>
                <a:latin typeface="JetBrains Mono"/>
              </a:rPr>
              <a:t>valueOf</a:t>
            </a:r>
            <a:r>
              <a:rPr lang="pt-BR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pt-BR" sz="1200" dirty="0" err="1">
                <a:solidFill>
                  <a:srgbClr val="BCBEC4"/>
                </a:solidFill>
                <a:effectLst/>
                <a:latin typeface="JetBrains Mono"/>
              </a:rPr>
              <a:t>cpf.charAt</a:t>
            </a:r>
            <a:r>
              <a:rPr lang="pt-BR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pt-BR" sz="1200" dirty="0">
                <a:solidFill>
                  <a:srgbClr val="2AACB8"/>
                </a:solidFill>
                <a:effectLst/>
                <a:latin typeface="JetBrains Mono"/>
              </a:rPr>
              <a:t>10</a:t>
            </a:r>
            <a:r>
              <a:rPr lang="pt-BR" sz="1200" dirty="0">
                <a:solidFill>
                  <a:srgbClr val="BCBEC4"/>
                </a:solidFill>
                <a:effectLst/>
                <a:latin typeface="JetBrains Mono"/>
              </a:rPr>
              <a:t>)))) {</a:t>
            </a:r>
            <a:br>
              <a:rPr lang="pt-B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pt-BR" sz="1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pt-BR" sz="1200" i="1" dirty="0" err="1">
                <a:solidFill>
                  <a:srgbClr val="BCBEC4"/>
                </a:solidFill>
                <a:effectLst/>
                <a:latin typeface="JetBrains Mono"/>
              </a:rPr>
              <a:t>println</a:t>
            </a:r>
            <a:r>
              <a:rPr lang="pt-BR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pt-BR" sz="1200" dirty="0">
                <a:solidFill>
                  <a:srgbClr val="6AAB73"/>
                </a:solidFill>
                <a:effectLst/>
                <a:latin typeface="JetBrains Mono"/>
              </a:rPr>
              <a:t>"CPF válido!"</a:t>
            </a:r>
            <a:r>
              <a:rPr lang="pt-BR" sz="1200" dirty="0"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lang="pt-B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pt-BR" sz="1200" dirty="0">
                <a:solidFill>
                  <a:srgbClr val="BCBEC4"/>
                </a:solidFill>
                <a:effectLst/>
                <a:latin typeface="JetBrains Mono"/>
              </a:rPr>
              <a:t>} </a:t>
            </a:r>
            <a:r>
              <a:rPr lang="pt-BR" sz="1200" dirty="0" err="1">
                <a:solidFill>
                  <a:srgbClr val="CF8E6D"/>
                </a:solidFill>
                <a:effectLst/>
                <a:latin typeface="JetBrains Mono"/>
              </a:rPr>
              <a:t>else</a:t>
            </a:r>
            <a:r>
              <a:rPr lang="pt-BR" sz="12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pt-BR" sz="1200" dirty="0">
                <a:solidFill>
                  <a:srgbClr val="BCBEC4"/>
                </a:solidFill>
                <a:effectLst/>
                <a:latin typeface="JetBrains Mono"/>
              </a:rPr>
              <a:t>{</a:t>
            </a:r>
            <a:br>
              <a:rPr lang="pt-B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pt-BR" sz="1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pt-BR" sz="1200" i="1" dirty="0" err="1">
                <a:solidFill>
                  <a:srgbClr val="BCBEC4"/>
                </a:solidFill>
                <a:effectLst/>
                <a:latin typeface="JetBrains Mono"/>
              </a:rPr>
              <a:t>println</a:t>
            </a:r>
            <a:r>
              <a:rPr lang="pt-BR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pt-BR" sz="1200" dirty="0">
                <a:solidFill>
                  <a:srgbClr val="6AAB73"/>
                </a:solidFill>
                <a:effectLst/>
                <a:latin typeface="JetBrains Mono"/>
              </a:rPr>
              <a:t>"CPF inválido!"</a:t>
            </a:r>
            <a:r>
              <a:rPr lang="pt-BR" sz="1200" dirty="0"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lang="pt-B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pt-BR" sz="1200" dirty="0">
                <a:solidFill>
                  <a:srgbClr val="BCBEC4"/>
                </a:solidFill>
                <a:effectLst/>
                <a:latin typeface="JetBrains Mono"/>
              </a:rPr>
              <a:t>}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154680"/>
            <a:ext cx="4114800" cy="10972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B89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02920" y="3200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CPF Válido!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3611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Dígitos calculados == dígitos do CPF informado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4114800" cy="1097280"/>
          </a:xfrm>
          <a:prstGeom prst="rect">
            <a:avLst/>
          </a:prstGeom>
          <a:solidFill>
            <a:srgbClr val="FEF0F0"/>
          </a:solidFill>
          <a:ln w="1905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92040" y="3200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CPF Inválido!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3611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menos um dígito calculado diverge do informado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361688"/>
            <a:ext cx="8412480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4379976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 charAt(9) lê o 10º caractere e charAt(10) lê o 11º, pois os índices em Java começam em 0.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Fluxograma do Algoritmo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005840"/>
            <a:ext cx="2743200" cy="475488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200400" y="10058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481328"/>
            <a:ext cx="0" cy="201168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200400" y="1682496"/>
            <a:ext cx="2743200" cy="47548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200400" y="168249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CPF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2157984"/>
            <a:ext cx="0" cy="201168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200400" y="2359152"/>
            <a:ext cx="2743200" cy="4754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200400" y="235915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 tem 11 dígitos?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2834640"/>
            <a:ext cx="0" cy="201168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200400" y="3035808"/>
            <a:ext cx="2743200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200400" y="303580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1º dígito verificador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3511296"/>
            <a:ext cx="0" cy="201168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3200400" y="3712464"/>
            <a:ext cx="2743200" cy="475488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200400" y="371246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2º dígito verificador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4187952"/>
            <a:ext cx="0" cy="201168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200400" y="4389120"/>
            <a:ext cx="2743200" cy="4754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200400" y="43891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Dígitos conferem?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4626864"/>
            <a:ext cx="1005840" cy="0"/>
          </a:xfrm>
          <a:prstGeom prst="line">
            <a:avLst/>
          </a:prstGeom>
          <a:noFill/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6949440" y="4425696"/>
            <a:ext cx="1691640" cy="402336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949440" y="442569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 Válido!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4370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4626864"/>
            <a:ext cx="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02920" y="4425696"/>
            <a:ext cx="1691640" cy="40233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02920" y="442569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 Inválido!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40280" y="4370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Não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2596896"/>
            <a:ext cx="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502920" y="2395728"/>
            <a:ext cx="1691640" cy="40233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502920" y="239572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 Inválido!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40280" y="23408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Não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51960" y="28529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↓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0" cy="36576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2C3E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1️⃣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37160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se o CPF possui exatamente 11 dígitos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76272"/>
            <a:ext cx="822960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2C3E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2️⃣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176272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o 1º dígito: somar (dígitos × pesos 10..2) e aplicar a regra do módulo 11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80944"/>
            <a:ext cx="822960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2C3E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02920" y="2980944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3️⃣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2980944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o 2º dígito: somar (10 dígitos × pesos 11..2) e aplicar a mesma regra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785616"/>
            <a:ext cx="822960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2C3E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4️⃣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378561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os dígitos calculados com os informados e exibir o resultado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</a:t>
            </a: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00" dirty="0" err="1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</a:t>
            </a: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Programação com Java  </a:t>
            </a:r>
            <a:r>
              <a:rPr lang="en-US" sz="110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SENAI-SP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851</Words>
  <Application>Microsoft Office PowerPoint</Application>
  <PresentationFormat>Apresentação na tela (16:9)</PresentationFormat>
  <Paragraphs>161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JetBrains Mono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 de Validação de CPF</dc:title>
  <dc:subject>PptxGenJS Presentation</dc:subject>
  <dc:creator>PptxGenJS</dc:creator>
  <cp:lastModifiedBy>Alexandre Toro Batista</cp:lastModifiedBy>
  <cp:revision>2</cp:revision>
  <dcterms:created xsi:type="dcterms:W3CDTF">2026-05-17T22:41:04Z</dcterms:created>
  <dcterms:modified xsi:type="dcterms:W3CDTF">2026-05-17T23:18:15Z</dcterms:modified>
</cp:coreProperties>
</file>